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0422448"/>
        <c:axId val="550422992"/>
      </c:barChart>
      <c:catAx>
        <c:axId val="5504224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0422992"/>
        <c:crosses val="autoZero"/>
        <c:auto val="1"/>
        <c:lblAlgn val="ctr"/>
        <c:lblOffset val="100"/>
        <c:noMultiLvlLbl val="1"/>
      </c:catAx>
      <c:valAx>
        <c:axId val="55042299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0422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4186944"/>
        <c:axId val="554194560"/>
      </c:barChart>
      <c:catAx>
        <c:axId val="554186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94560"/>
        <c:crosses val="autoZero"/>
        <c:auto val="1"/>
        <c:lblAlgn val="ctr"/>
        <c:lblOffset val="100"/>
        <c:noMultiLvlLbl val="1"/>
      </c:catAx>
      <c:valAx>
        <c:axId val="55419456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8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19.100000000000001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4193472"/>
        <c:axId val="554185856"/>
      </c:barChart>
      <c:catAx>
        <c:axId val="5541934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85856"/>
        <c:crosses val="autoZero"/>
        <c:auto val="1"/>
        <c:lblAlgn val="ctr"/>
        <c:lblOffset val="100"/>
        <c:noMultiLvlLbl val="1"/>
      </c:catAx>
      <c:valAx>
        <c:axId val="55418585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9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A2E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2E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Current Revenue</c:v>
                </c:pt>
                <c:pt idx="1">
                  <c:v>Revenue with 30% Churn Reduction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11.8</c:v>
                </c:pt>
                <c:pt idx="1">
                  <c:v>13.07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4191840"/>
        <c:axId val="554183680"/>
      </c:barChart>
      <c:catAx>
        <c:axId val="55419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83680"/>
        <c:crosses val="autoZero"/>
        <c:auto val="1"/>
        <c:lblAlgn val="ctr"/>
        <c:lblOffset val="100"/>
        <c:noMultiLvlLbl val="1"/>
      </c:catAx>
      <c:valAx>
        <c:axId val="55418368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554191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32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008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ANALYTICS CASE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$1.27M Revenue Leakage &amp; Building a Retention Strategy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3200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Dataset: </a:t>
            </a:r>
            <a:r>
              <a:rPr lang="en-US" sz="1200" dirty="0">
                <a:solidFill>
                  <a:srgbClr val="A0B4C8"/>
                </a:solidFill>
              </a:rPr>
              <a:t>7,043 customers  |  </a:t>
            </a:r>
            <a:r>
              <a:rPr lang="en-US" sz="1200" b="1" dirty="0">
                <a:solidFill>
                  <a:srgbClr val="14B8A6"/>
                </a:solidFill>
              </a:rPr>
              <a:t>Tools: </a:t>
            </a:r>
            <a:r>
              <a:rPr lang="en-US" sz="1200" dirty="0">
                <a:solidFill>
                  <a:srgbClr val="A0B4C8"/>
                </a:solidFill>
              </a:rPr>
              <a:t>Python (Pandas) · Power BI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3383280"/>
            <a:ext cx="1170432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34290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384048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01968" y="3383280"/>
            <a:ext cx="1170432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01968" y="34290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1968" y="384048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</a:rPr>
              <a:t>Revenue at Risk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00416" y="3383280"/>
            <a:ext cx="1170432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00416" y="34290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00416" y="384048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</a:rPr>
              <a:t>Key Segments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6"/>
                </a:solidFill>
              </a:rPr>
              <a:t>Harsh Anvekar  ·  Data Science &amp; BI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not random — it is concentrated in three identifiable segments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1188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Overall Churn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1,869 of 7,043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417320"/>
            <a:ext cx="54864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481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$11.8M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87752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Current Annual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22677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At present churn levels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481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64024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Recoverable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22677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If churn reduced by 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4173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417320"/>
            <a:ext cx="54864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481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0296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High-Risk Segments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22677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Drive 80%+ of churn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2715768" cy="1691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880360"/>
            <a:ext cx="502920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803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M2M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Month-to-Month Contracts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42.7% churn rate — 7x higher than 2-year contracts. Contribute 55% of all churn volume.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2788920"/>
            <a:ext cx="2715768" cy="16916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10128" y="2880360"/>
            <a:ext cx="502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8803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FBR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Fiber Internet Customers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30-35% churn despite highest monthly charges. Represent 40% of total revenue leakage.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71616" y="2788920"/>
            <a:ext cx="2715768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2880360"/>
            <a:ext cx="502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28803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08776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Customers with No Add-Ons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08776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Churn 2-4x higher than customers with add-ons. Low service stickiness drives easy exits.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DEEP DIVE  |  SEGMENT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Two segments account for the majority of churn events and revenue loss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 Type vs Churn Rate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755648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520440" y="1828800"/>
            <a:ext cx="77724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1828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7x higher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Internet Service Type vs Churn</a:t>
            </a:r>
            <a:endParaRPr lang="en-US" sz="12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663440" y="1755648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800600" y="4023360"/>
            <a:ext cx="384048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19472" y="40507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D97706"/>
                </a:solidFill>
              </a:rPr>
              <a:t>Fiber customers = 40% of total revenue leakage despite being the highest-paying segment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DEEP DIVE  |  BEHAVIOURAL DRIVERS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Add-on adoption and payment method are the two strongest behavioural churn signals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Add-On Adoption Reduces Churn 2-4x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1920240" cy="1371600"/>
          </a:xfrm>
          <a:prstGeom prst="rect">
            <a:avLst/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No Add-Ons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16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High exit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810512"/>
            <a:ext cx="1920240" cy="137160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542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With Add-Ons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816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Anchored customers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9424" y="2331720"/>
            <a:ext cx="356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4023360" cy="7315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Security, backup, and tech support add-ons create multi-touchpoint lock-in. Converting zero-add-on users to even one bundle reduces exit probability by 2x.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27432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Payment Method as a Churn Proxy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663440" y="173736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4800600" y="4005072"/>
            <a:ext cx="393192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40416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Electronic check users churn at 3x the rate of card/auto-pay users. Payment friction is a proxy for billing dissatisfaction and default risk.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REVENUE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 30% reduction in churn unlocks ~$1.27M in annual revenue — a ~10% uplift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2697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Current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At 26.54% churn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35331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53312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Revenue at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From churned 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$13.07M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1965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Revenue Potential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1945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At 30% churn reduction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578608"/>
          <a:ext cx="50292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0" y="2578608"/>
            <a:ext cx="3383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2356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Uplift Breakdown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77840" y="3063240"/>
            <a:ext cx="32004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30815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Recover M2M churners (55%)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589520" y="30815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+$0.70M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77840" y="3447288"/>
            <a:ext cx="32004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34655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Fiber segment (40%)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589520" y="3465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</a:rPr>
              <a:t>+$0.51M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77840" y="3831336"/>
            <a:ext cx="32004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849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Add-on conversion uplift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589520" y="38496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</a:rPr>
              <a:t>+$0.06M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77840" y="4215384"/>
            <a:ext cx="3200400" cy="3200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4233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Total recoverable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89520" y="4233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11D48"/>
                </a:solidFill>
              </a:rPr>
              <a:t>$1.27M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high-ROI interventions to recover $1.27M in annual revenue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715768" cy="3200400"/>
          </a:xfrm>
          <a:prstGeom prst="rect">
            <a:avLst/>
          </a:prstGeom>
          <a:solidFill>
            <a:srgbClr val="1A2E45"/>
          </a:solidFill>
          <a:ln w="1905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Introduce Soft Lock-In Contracts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11D48"/>
                </a:solidFill>
              </a:rPr>
              <a:t>Target: Month-to-Month Customers (55% of churn)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9809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Offer 6-12 month contracts with 5-8% loyalty discounts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284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Bundle perks (priority support, data rollover) to reduce friction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6758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Flag at-risk M2M customers in CRM for proactive outreach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370832"/>
            <a:ext cx="2715768" cy="219456"/>
          </a:xfrm>
          <a:prstGeom prst="rect">
            <a:avLst/>
          </a:prstGeom>
          <a:solidFill>
            <a:srgbClr val="E11D48">
              <a:alpha val="20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370832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Reduce M2M churn from 42.7% to ~30%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389888"/>
            <a:ext cx="2715768" cy="3200400"/>
          </a:xfrm>
          <a:prstGeom prst="rect">
            <a:avLst/>
          </a:prstGeom>
          <a:solidFill>
            <a:srgbClr val="1A2E45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148132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Proactive Fiber Experience Program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D97706"/>
                </a:solidFill>
              </a:rPr>
              <a:t>Target: Fiber Optic Customers (40% of revenue leakage)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9809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Implement automatic outage detection with proactive alerts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33284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Assign dedicated support tiers for fiber customers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36758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Reduce issues via predictive network maintenance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72968" y="4370832"/>
            <a:ext cx="2715768" cy="219456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4370832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Reduce Fiber churn from ~42% to ~28%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71616" y="1389888"/>
            <a:ext cx="2715768" cy="3200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148132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08776" y="2084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Add-On Bundle Campaign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0D9488"/>
                </a:solidFill>
              </a:rPr>
              <a:t>Target: Zero Add-On Customers (2-4x churn risk)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08776" y="29809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Offer discounted Security + Backup + TechSupport starter pack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08776" y="33284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Target new signups and M2M customers in first 90 days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08776" y="36758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A0B4C8"/>
                </a:solidFill>
              </a:rPr>
              <a:t>Track add-on adoption as a leading retention KPI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71616" y="4370832"/>
            <a:ext cx="2715768" cy="219456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4370832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Convert 20% of zero-add-on base to bundled plans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6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APPENDIX  |  POWER BI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9744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Interactive Power BI dashboard built to support executive decision-making</a:t>
            </a:r>
            <a:endParaRPr lang="en-US" sz="1500" dirty="0"/>
          </a:p>
        </p:txBody>
      </p:sp>
      <p:pic>
        <p:nvPicPr>
          <p:cNvPr id="5" name="Image 0" descr="Power BI Chur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4921"/>
            <a:ext cx="8321040" cy="36642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81728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Dashboard includes Add-Ons slicer, KPI cards, revenue waterfall, contract-type breakdowns, and demographic churn splits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Telecom Churn Analysis  |  Harsh Anvekar  |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624</Words>
  <Application>Microsoft Office PowerPoint</Application>
  <PresentationFormat>On-screen Show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Analysis</dc:title>
  <dc:subject>PptxGenJS Presentation</dc:subject>
  <dc:creator>PptxGenJS</dc:creator>
  <cp:lastModifiedBy>Microsoft account</cp:lastModifiedBy>
  <cp:revision>2</cp:revision>
  <dcterms:created xsi:type="dcterms:W3CDTF">2026-04-13T10:17:47Z</dcterms:created>
  <dcterms:modified xsi:type="dcterms:W3CDTF">2026-04-13T10:36:18Z</dcterms:modified>
</cp:coreProperties>
</file>